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34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0D8D-2CB8-0634-AAE2-E9781F3BC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53860-A787-F405-7246-D564CC597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A9F7C-1B61-ED72-C7E7-F947B5AE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8D464-0456-A268-C499-F514DF4F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4B874-704F-682C-6E30-FC705DFE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747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3FC5-6D78-4216-CEF7-10AD5C40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4612D-4329-C160-7D3D-F000D17E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A4C95-B06B-2286-625B-3FCB7F73A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93CE6-85BD-9081-CBFF-E64D7496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90FC8-C644-3FC7-CCF3-54F78058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164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5646-C9CD-A8A1-DDBE-DC42BE44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FE3C7-27D8-DBD4-3AB4-512DA8811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CA4FC-9612-0BDD-CF97-BDB4910D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643C0-C5C0-F1D2-3A1B-F90E0752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E0CE4-8F81-8A9C-BDA3-3D108C09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736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2F26-C4F9-EDD8-AD13-A76EB58A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76237-9849-A49B-5D5F-43A531DC8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CBBFB-2DE3-A39C-79EC-9FC0A41B7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7CEC1-1095-E97B-AA16-460EE863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A6D02-5C52-980E-FEB7-FB205977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0662E-E2B0-B279-FA68-C714BCF9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8620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8C99-C68C-6CAA-9F4F-C8AF47BC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75853-2F1C-E631-7FD1-E4246A0E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7EBA1-99FF-9BA4-3596-5D8AD679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B0475-EFD7-DA2D-9205-BFC7AB33B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09261-C786-211C-4402-B597E9B97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3B75D-D679-BA63-D174-F0A3E663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7CBD0-991E-6DBC-11AB-14AA03A7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ADF7D-45C7-D4E9-1F54-1173368A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017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4B87-D30F-E045-99F3-1812457D0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18268-C8EF-F744-3110-01F8278F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2EC94-D769-E141-E66A-08FDEEC6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9EE1E-A875-A63C-58C6-4BCEF7D5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934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45E76-1289-DE7E-8640-F15F177E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FB71D4-97B8-D9CC-90E9-5B907B09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407D1-B460-42FA-1688-0EC5E8AD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51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84E5-791A-4095-B35B-5942C69D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0812-77D3-2DCA-B871-27EC21BD1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B6C53-DB87-DE61-6FFB-80C2199EE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0B1E7-4C3C-C26D-77C6-79EAE0EC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426DD-1BE9-4AA9-80C3-CE52C327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140C3-41DD-C4C2-1AB1-33F7AFDB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763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1F57-7C59-DE61-6CA7-9C784C1B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E7125-A9CE-78FE-E451-E0CD6798E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7EC1F-4549-926C-D90D-A8CB652F5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E7772-1B41-A3FF-2BE9-76134E64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80ECF-CCD0-39E5-E0CF-035D9E97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43406-AD5F-5A60-83F2-C2ECB24E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062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9F15-99F5-F9D4-F5BA-29E63DE5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A9F64-4CCB-5093-8FD3-F1A450769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90309-3AF4-E2E1-D01D-5CE2A76A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C53E-6305-D029-C3B1-3D78BA1E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6A0D4-EAA5-F7C7-00FA-1EEFF8C7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323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4E628-663D-3EF6-7C74-19504C3AC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65ECA-CA1F-9094-A9F2-48551E29A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BEAAB-315A-2EA0-3F72-7F60026E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507BA-5C76-E7C8-38E8-E4D53EB6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FCAB-BD60-F404-C285-FFC6F020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645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ED753-1BB7-D785-2C81-FF508D09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02C7F-9893-A609-BAA3-90C0E96E9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824BC-DE56-9777-6D81-EFCEDF286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714FB-A121-4088-B3C6-14605A93C794}" type="datetimeFigureOut">
              <a:rPr lang="en-ID" smtClean="0"/>
              <a:t>08/09/2026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0782A-ED90-169C-ECC8-D3DE89459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2D7B6-D0BC-F67F-290D-D0699D49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CEA85-66DF-4879-8DE2-AFA20F7665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608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326B-B6C9-F8E1-61AC-86A79C47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reeform 2">
            <a:extLst>
              <a:ext uri="{FF2B5EF4-FFF2-40B4-BE49-F238E27FC236}">
                <a16:creationId xmlns:a16="http://schemas.microsoft.com/office/drawing/2014/main" id="{8C5A2280-AF34-8A15-25FA-24A9A345A6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 sz="12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F37C7A-795E-89A9-B51B-C4A64B39407D}"/>
              </a:ext>
            </a:extLst>
          </p:cNvPr>
          <p:cNvGrpSpPr/>
          <p:nvPr/>
        </p:nvGrpSpPr>
        <p:grpSpPr>
          <a:xfrm>
            <a:off x="-327803" y="-482203"/>
            <a:ext cx="12847605" cy="1410729"/>
            <a:chOff x="-491704" y="-190500"/>
            <a:chExt cx="5075597" cy="557325"/>
          </a:xfrm>
        </p:grpSpPr>
        <p:sp>
          <p:nvSpPr>
            <p:cNvPr id="102" name="Freeform 4">
              <a:extLst>
                <a:ext uri="{FF2B5EF4-FFF2-40B4-BE49-F238E27FC236}">
                  <a16:creationId xmlns:a16="http://schemas.microsoft.com/office/drawing/2014/main" id="{3F5DB32A-CE94-039E-ABA0-1D9409E41B6E}"/>
                </a:ext>
              </a:extLst>
            </p:cNvPr>
            <p:cNvSpPr/>
            <p:nvPr/>
          </p:nvSpPr>
          <p:spPr>
            <a:xfrm>
              <a:off x="-491704" y="0"/>
              <a:ext cx="5075597" cy="366825"/>
            </a:xfrm>
            <a:custGeom>
              <a:avLst/>
              <a:gdLst/>
              <a:ahLst/>
              <a:cxnLst/>
              <a:rect l="l" t="t" r="r" b="b"/>
              <a:pathLst>
                <a:path w="5075597" h="366825">
                  <a:moveTo>
                    <a:pt x="0" y="0"/>
                  </a:moveTo>
                  <a:lnTo>
                    <a:pt x="5075597" y="0"/>
                  </a:lnTo>
                  <a:lnTo>
                    <a:pt x="5075597" y="366825"/>
                  </a:lnTo>
                  <a:lnTo>
                    <a:pt x="0" y="366825"/>
                  </a:lnTo>
                  <a:close/>
                </a:path>
              </a:pathLst>
            </a:custGeom>
            <a:solidFill>
              <a:srgbClr val="D22229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3" name="TextBox 5">
              <a:extLst>
                <a:ext uri="{FF2B5EF4-FFF2-40B4-BE49-F238E27FC236}">
                  <a16:creationId xmlns:a16="http://schemas.microsoft.com/office/drawing/2014/main" id="{E88EA806-5C77-59AD-5E8C-5EE0A454AFEB}"/>
                </a:ext>
              </a:extLst>
            </p:cNvPr>
            <p:cNvSpPr txBox="1"/>
            <p:nvPr/>
          </p:nvSpPr>
          <p:spPr>
            <a:xfrm>
              <a:off x="-491704" y="-190500"/>
              <a:ext cx="5075597" cy="557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360"/>
                </a:lnSpc>
              </a:pPr>
              <a:endParaRPr sz="12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365AF8E-4799-8E0D-897C-F9F7769BC133}"/>
              </a:ext>
            </a:extLst>
          </p:cNvPr>
          <p:cNvGrpSpPr/>
          <p:nvPr/>
        </p:nvGrpSpPr>
        <p:grpSpPr>
          <a:xfrm>
            <a:off x="309018" y="1790259"/>
            <a:ext cx="11523881" cy="2827054"/>
            <a:chOff x="463526" y="2685386"/>
            <a:chExt cx="4552645" cy="1296458"/>
          </a:xfrm>
        </p:grpSpPr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E2EA04E6-87E6-CF73-FF5A-46ABA3F2D9F1}"/>
                </a:ext>
              </a:extLst>
            </p:cNvPr>
            <p:cNvSpPr/>
            <p:nvPr/>
          </p:nvSpPr>
          <p:spPr>
            <a:xfrm>
              <a:off x="463526" y="2685386"/>
              <a:ext cx="4552645" cy="1296458"/>
            </a:xfrm>
            <a:custGeom>
              <a:avLst/>
              <a:gdLst/>
              <a:ahLst/>
              <a:cxnLst/>
              <a:rect l="l" t="t" r="r" b="b"/>
              <a:pathLst>
                <a:path w="4552645" h="1296458">
                  <a:moveTo>
                    <a:pt x="0" y="0"/>
                  </a:moveTo>
                  <a:lnTo>
                    <a:pt x="4552645" y="0"/>
                  </a:lnTo>
                  <a:lnTo>
                    <a:pt x="4552645" y="1296458"/>
                  </a:lnTo>
                  <a:lnTo>
                    <a:pt x="0" y="1296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85AC6"/>
              </a:solidFill>
              <a:prstDash val="lgDash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1" name="TextBox 10">
              <a:extLst>
                <a:ext uri="{FF2B5EF4-FFF2-40B4-BE49-F238E27FC236}">
                  <a16:creationId xmlns:a16="http://schemas.microsoft.com/office/drawing/2014/main" id="{6DAAF96D-4D2B-A70D-8BEA-0419A61206CD}"/>
                </a:ext>
              </a:extLst>
            </p:cNvPr>
            <p:cNvSpPr txBox="1"/>
            <p:nvPr/>
          </p:nvSpPr>
          <p:spPr>
            <a:xfrm>
              <a:off x="463526" y="2723486"/>
              <a:ext cx="4552645" cy="12583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496"/>
                </a:lnSpc>
              </a:pPr>
              <a:endParaRPr sz="12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CC40749-F0A8-B5CE-EF6A-D16DB70746B7}"/>
              </a:ext>
            </a:extLst>
          </p:cNvPr>
          <p:cNvGrpSpPr/>
          <p:nvPr/>
        </p:nvGrpSpPr>
        <p:grpSpPr>
          <a:xfrm>
            <a:off x="319526" y="4617313"/>
            <a:ext cx="11523881" cy="1713637"/>
            <a:chOff x="463526" y="7875666"/>
            <a:chExt cx="4552645" cy="426867"/>
          </a:xfrm>
        </p:grpSpPr>
        <p:sp>
          <p:nvSpPr>
            <p:cNvPr id="98" name="Freeform 12">
              <a:extLst>
                <a:ext uri="{FF2B5EF4-FFF2-40B4-BE49-F238E27FC236}">
                  <a16:creationId xmlns:a16="http://schemas.microsoft.com/office/drawing/2014/main" id="{36B73EB0-CB74-A871-6B42-A812059709EE}"/>
                </a:ext>
              </a:extLst>
            </p:cNvPr>
            <p:cNvSpPr/>
            <p:nvPr/>
          </p:nvSpPr>
          <p:spPr>
            <a:xfrm>
              <a:off x="463526" y="7875666"/>
              <a:ext cx="4552645" cy="426867"/>
            </a:xfrm>
            <a:custGeom>
              <a:avLst/>
              <a:gdLst/>
              <a:ahLst/>
              <a:cxnLst/>
              <a:rect l="l" t="t" r="r" b="b"/>
              <a:pathLst>
                <a:path w="4552645" h="426867">
                  <a:moveTo>
                    <a:pt x="0" y="0"/>
                  </a:moveTo>
                  <a:lnTo>
                    <a:pt x="4552645" y="0"/>
                  </a:lnTo>
                  <a:lnTo>
                    <a:pt x="4552645" y="426867"/>
                  </a:lnTo>
                  <a:lnTo>
                    <a:pt x="0" y="4268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4962B"/>
              </a:solidFill>
              <a:prstDash val="lgDash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9" name="TextBox 13">
              <a:extLst>
                <a:ext uri="{FF2B5EF4-FFF2-40B4-BE49-F238E27FC236}">
                  <a16:creationId xmlns:a16="http://schemas.microsoft.com/office/drawing/2014/main" id="{1D57AFAB-A16C-5573-5457-A06A43C3FDF0}"/>
                </a:ext>
              </a:extLst>
            </p:cNvPr>
            <p:cNvSpPr txBox="1"/>
            <p:nvPr/>
          </p:nvSpPr>
          <p:spPr>
            <a:xfrm>
              <a:off x="463526" y="7913766"/>
              <a:ext cx="4552645" cy="3887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496"/>
                </a:lnSpc>
              </a:pPr>
              <a:endParaRPr sz="12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47EC39F-D32D-8CFD-4D9C-C2F51C465C6C}"/>
              </a:ext>
            </a:extLst>
          </p:cNvPr>
          <p:cNvGrpSpPr/>
          <p:nvPr/>
        </p:nvGrpSpPr>
        <p:grpSpPr>
          <a:xfrm>
            <a:off x="1554012" y="1478293"/>
            <a:ext cx="2277887" cy="4209425"/>
            <a:chOff x="2348040" y="2949952"/>
            <a:chExt cx="4555773" cy="841884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E90DFBF-5086-131D-E715-A912E440252F}"/>
                </a:ext>
              </a:extLst>
            </p:cNvPr>
            <p:cNvGrpSpPr/>
            <p:nvPr/>
          </p:nvGrpSpPr>
          <p:grpSpPr>
            <a:xfrm>
              <a:off x="3306666" y="4044301"/>
              <a:ext cx="3597147" cy="882446"/>
              <a:chOff x="3306666" y="4148509"/>
              <a:chExt cx="710548" cy="174310"/>
            </a:xfrm>
          </p:grpSpPr>
          <p:sp>
            <p:nvSpPr>
              <p:cNvPr id="94" name="Freeform 23">
                <a:extLst>
                  <a:ext uri="{FF2B5EF4-FFF2-40B4-BE49-F238E27FC236}">
                    <a16:creationId xmlns:a16="http://schemas.microsoft.com/office/drawing/2014/main" id="{64447CAD-25EB-DCD1-CDD4-5CE09A29F68C}"/>
                  </a:ext>
                </a:extLst>
              </p:cNvPr>
              <p:cNvSpPr/>
              <p:nvPr/>
            </p:nvSpPr>
            <p:spPr>
              <a:xfrm>
                <a:off x="3306666" y="4148509"/>
                <a:ext cx="710548" cy="174310"/>
              </a:xfrm>
              <a:custGeom>
                <a:avLst/>
                <a:gdLst/>
                <a:ahLst/>
                <a:cxnLst/>
                <a:rect l="l" t="t" r="r" b="b"/>
                <a:pathLst>
                  <a:path w="710548" h="148661">
                    <a:moveTo>
                      <a:pt x="74331" y="0"/>
                    </a:moveTo>
                    <a:lnTo>
                      <a:pt x="636217" y="0"/>
                    </a:lnTo>
                    <a:cubicBezTo>
                      <a:pt x="677269" y="0"/>
                      <a:pt x="710548" y="33279"/>
                      <a:pt x="710548" y="74331"/>
                    </a:cubicBezTo>
                    <a:lnTo>
                      <a:pt x="710548" y="74331"/>
                    </a:lnTo>
                    <a:cubicBezTo>
                      <a:pt x="710548" y="115382"/>
                      <a:pt x="677269" y="148661"/>
                      <a:pt x="636217" y="148661"/>
                    </a:cubicBezTo>
                    <a:lnTo>
                      <a:pt x="74331" y="148661"/>
                    </a:lnTo>
                    <a:cubicBezTo>
                      <a:pt x="33279" y="148661"/>
                      <a:pt x="0" y="115382"/>
                      <a:pt x="0" y="74331"/>
                    </a:cubicBezTo>
                    <a:lnTo>
                      <a:pt x="0" y="74331"/>
                    </a:lnTo>
                    <a:cubicBezTo>
                      <a:pt x="0" y="33279"/>
                      <a:pt x="33279" y="0"/>
                      <a:pt x="74331" y="0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95" name="TextBox 24">
                <a:extLst>
                  <a:ext uri="{FF2B5EF4-FFF2-40B4-BE49-F238E27FC236}">
                    <a16:creationId xmlns:a16="http://schemas.microsoft.com/office/drawing/2014/main" id="{EB499FE9-BE7D-FF8B-968E-ECDD83057EFA}"/>
                  </a:ext>
                </a:extLst>
              </p:cNvPr>
              <p:cNvSpPr txBox="1"/>
              <p:nvPr/>
            </p:nvSpPr>
            <p:spPr>
              <a:xfrm>
                <a:off x="3306666" y="4182548"/>
                <a:ext cx="710548" cy="12008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24"/>
                  </a:lnSpc>
                </a:pPr>
                <a:r>
                  <a:rPr lang="en-US" sz="1200" b="1" dirty="0">
                    <a:solidFill>
                      <a:srgbClr val="000000"/>
                    </a:solidFill>
                    <a:latin typeface="TT Norms Bold"/>
                    <a:ea typeface="TT Norms Bold"/>
                    <a:cs typeface="TT Norms Bold"/>
                    <a:sym typeface="TT Norms Bold"/>
                  </a:rPr>
                  <a:t>Strategy &amp; Transformation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78B5617-9832-0A48-BA5A-DB60F9293EEC}"/>
                </a:ext>
              </a:extLst>
            </p:cNvPr>
            <p:cNvGrpSpPr/>
            <p:nvPr/>
          </p:nvGrpSpPr>
          <p:grpSpPr>
            <a:xfrm>
              <a:off x="3275599" y="5460156"/>
              <a:ext cx="3628214" cy="752598"/>
              <a:chOff x="3275599" y="5460156"/>
              <a:chExt cx="716684" cy="148661"/>
            </a:xfrm>
          </p:grpSpPr>
          <p:sp>
            <p:nvSpPr>
              <p:cNvPr id="92" name="Freeform 26">
                <a:extLst>
                  <a:ext uri="{FF2B5EF4-FFF2-40B4-BE49-F238E27FC236}">
                    <a16:creationId xmlns:a16="http://schemas.microsoft.com/office/drawing/2014/main" id="{25376C77-AC29-A453-AB46-8D0DE42A4E4B}"/>
                  </a:ext>
                </a:extLst>
              </p:cNvPr>
              <p:cNvSpPr/>
              <p:nvPr/>
            </p:nvSpPr>
            <p:spPr>
              <a:xfrm>
                <a:off x="3275599" y="5460156"/>
                <a:ext cx="716684" cy="148661"/>
              </a:xfrm>
              <a:custGeom>
                <a:avLst/>
                <a:gdLst/>
                <a:ahLst/>
                <a:cxnLst/>
                <a:rect l="l" t="t" r="r" b="b"/>
                <a:pathLst>
                  <a:path w="716684" h="148661">
                    <a:moveTo>
                      <a:pt x="74331" y="0"/>
                    </a:moveTo>
                    <a:lnTo>
                      <a:pt x="642354" y="0"/>
                    </a:lnTo>
                    <a:cubicBezTo>
                      <a:pt x="683405" y="0"/>
                      <a:pt x="716684" y="33279"/>
                      <a:pt x="716684" y="74331"/>
                    </a:cubicBezTo>
                    <a:lnTo>
                      <a:pt x="716684" y="74331"/>
                    </a:lnTo>
                    <a:cubicBezTo>
                      <a:pt x="716684" y="115382"/>
                      <a:pt x="683405" y="148661"/>
                      <a:pt x="642354" y="148661"/>
                    </a:cubicBezTo>
                    <a:lnTo>
                      <a:pt x="74331" y="148661"/>
                    </a:lnTo>
                    <a:cubicBezTo>
                      <a:pt x="33279" y="148661"/>
                      <a:pt x="0" y="115382"/>
                      <a:pt x="0" y="74331"/>
                    </a:cubicBezTo>
                    <a:lnTo>
                      <a:pt x="0" y="74331"/>
                    </a:lnTo>
                    <a:cubicBezTo>
                      <a:pt x="0" y="33279"/>
                      <a:pt x="33279" y="0"/>
                      <a:pt x="7433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93" name="TextBox 27">
                <a:extLst>
                  <a:ext uri="{FF2B5EF4-FFF2-40B4-BE49-F238E27FC236}">
                    <a16:creationId xmlns:a16="http://schemas.microsoft.com/office/drawing/2014/main" id="{0A94DFF9-D73B-03F1-6DCC-65C129B4D2A8}"/>
                  </a:ext>
                </a:extLst>
              </p:cNvPr>
              <p:cNvSpPr txBox="1"/>
              <p:nvPr/>
            </p:nvSpPr>
            <p:spPr>
              <a:xfrm>
                <a:off x="3275599" y="5488731"/>
                <a:ext cx="716684" cy="12008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24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TT Norms Bold"/>
                    <a:ea typeface="TT Norms Bold"/>
                    <a:cs typeface="TT Norms Bold"/>
                    <a:sym typeface="TT Norms Bold"/>
                  </a:rPr>
                  <a:t>Business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12AF3E2-ABF7-6C3F-36AC-41CADD45E402}"/>
                </a:ext>
              </a:extLst>
            </p:cNvPr>
            <p:cNvGrpSpPr/>
            <p:nvPr/>
          </p:nvGrpSpPr>
          <p:grpSpPr>
            <a:xfrm>
              <a:off x="3306666" y="6746155"/>
              <a:ext cx="3597147" cy="752598"/>
              <a:chOff x="3306666" y="6746155"/>
              <a:chExt cx="710548" cy="148661"/>
            </a:xfrm>
          </p:grpSpPr>
          <p:sp>
            <p:nvSpPr>
              <p:cNvPr id="90" name="Freeform 29">
                <a:extLst>
                  <a:ext uri="{FF2B5EF4-FFF2-40B4-BE49-F238E27FC236}">
                    <a16:creationId xmlns:a16="http://schemas.microsoft.com/office/drawing/2014/main" id="{05F341AC-01FA-036A-0476-43428A15024D}"/>
                  </a:ext>
                </a:extLst>
              </p:cNvPr>
              <p:cNvSpPr/>
              <p:nvPr/>
            </p:nvSpPr>
            <p:spPr>
              <a:xfrm>
                <a:off x="3306666" y="6746155"/>
                <a:ext cx="710548" cy="148661"/>
              </a:xfrm>
              <a:custGeom>
                <a:avLst/>
                <a:gdLst/>
                <a:ahLst/>
                <a:cxnLst/>
                <a:rect l="l" t="t" r="r" b="b"/>
                <a:pathLst>
                  <a:path w="710548" h="148661">
                    <a:moveTo>
                      <a:pt x="74331" y="0"/>
                    </a:moveTo>
                    <a:lnTo>
                      <a:pt x="636217" y="0"/>
                    </a:lnTo>
                    <a:cubicBezTo>
                      <a:pt x="677269" y="0"/>
                      <a:pt x="710548" y="33279"/>
                      <a:pt x="710548" y="74331"/>
                    </a:cubicBezTo>
                    <a:lnTo>
                      <a:pt x="710548" y="74331"/>
                    </a:lnTo>
                    <a:cubicBezTo>
                      <a:pt x="710548" y="115382"/>
                      <a:pt x="677269" y="148661"/>
                      <a:pt x="636217" y="148661"/>
                    </a:cubicBezTo>
                    <a:lnTo>
                      <a:pt x="74331" y="148661"/>
                    </a:lnTo>
                    <a:cubicBezTo>
                      <a:pt x="33279" y="148661"/>
                      <a:pt x="0" y="115382"/>
                      <a:pt x="0" y="74331"/>
                    </a:cubicBezTo>
                    <a:lnTo>
                      <a:pt x="0" y="74331"/>
                    </a:lnTo>
                    <a:cubicBezTo>
                      <a:pt x="0" y="33279"/>
                      <a:pt x="33279" y="0"/>
                      <a:pt x="74331" y="0"/>
                    </a:cubicBezTo>
                    <a:close/>
                  </a:path>
                </a:pathLst>
              </a:custGeom>
              <a:solidFill>
                <a:srgbClr val="68B1AD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91" name="TextBox 30">
                <a:extLst>
                  <a:ext uri="{FF2B5EF4-FFF2-40B4-BE49-F238E27FC236}">
                    <a16:creationId xmlns:a16="http://schemas.microsoft.com/office/drawing/2014/main" id="{E1B8B2CC-BBB4-E9A1-B08D-283FD1EF631C}"/>
                  </a:ext>
                </a:extLst>
              </p:cNvPr>
              <p:cNvSpPr txBox="1"/>
              <p:nvPr/>
            </p:nvSpPr>
            <p:spPr>
              <a:xfrm>
                <a:off x="3306666" y="6774730"/>
                <a:ext cx="710548" cy="12008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24"/>
                  </a:lnSpc>
                </a:pPr>
                <a:r>
                  <a:rPr lang="en-US" sz="1200" b="1" dirty="0">
                    <a:solidFill>
                      <a:srgbClr val="000000"/>
                    </a:solidFill>
                    <a:latin typeface="TT Norms Bold"/>
                    <a:ea typeface="TT Norms Bold"/>
                    <a:cs typeface="TT Norms Bold"/>
                    <a:sym typeface="TT Norms Bold"/>
                  </a:rPr>
                  <a:t>Application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4DBB212-6105-2D2D-8AB5-443E77D00175}"/>
                </a:ext>
              </a:extLst>
            </p:cNvPr>
            <p:cNvGrpSpPr/>
            <p:nvPr/>
          </p:nvGrpSpPr>
          <p:grpSpPr>
            <a:xfrm>
              <a:off x="3288450" y="8032153"/>
              <a:ext cx="3597147" cy="752598"/>
              <a:chOff x="3288450" y="8032153"/>
              <a:chExt cx="710548" cy="148661"/>
            </a:xfrm>
          </p:grpSpPr>
          <p:sp>
            <p:nvSpPr>
              <p:cNvPr id="88" name="Freeform 32">
                <a:extLst>
                  <a:ext uri="{FF2B5EF4-FFF2-40B4-BE49-F238E27FC236}">
                    <a16:creationId xmlns:a16="http://schemas.microsoft.com/office/drawing/2014/main" id="{189B4757-BDF1-4F05-B596-D2A458B55339}"/>
                  </a:ext>
                </a:extLst>
              </p:cNvPr>
              <p:cNvSpPr/>
              <p:nvPr/>
            </p:nvSpPr>
            <p:spPr>
              <a:xfrm>
                <a:off x="3288450" y="8032153"/>
                <a:ext cx="710548" cy="148661"/>
              </a:xfrm>
              <a:custGeom>
                <a:avLst/>
                <a:gdLst/>
                <a:ahLst/>
                <a:cxnLst/>
                <a:rect l="l" t="t" r="r" b="b"/>
                <a:pathLst>
                  <a:path w="710548" h="148661">
                    <a:moveTo>
                      <a:pt x="74331" y="0"/>
                    </a:moveTo>
                    <a:lnTo>
                      <a:pt x="636217" y="0"/>
                    </a:lnTo>
                    <a:cubicBezTo>
                      <a:pt x="677269" y="0"/>
                      <a:pt x="710548" y="33279"/>
                      <a:pt x="710548" y="74331"/>
                    </a:cubicBezTo>
                    <a:lnTo>
                      <a:pt x="710548" y="74331"/>
                    </a:lnTo>
                    <a:cubicBezTo>
                      <a:pt x="710548" y="115382"/>
                      <a:pt x="677269" y="148661"/>
                      <a:pt x="636217" y="148661"/>
                    </a:cubicBezTo>
                    <a:lnTo>
                      <a:pt x="74331" y="148661"/>
                    </a:lnTo>
                    <a:cubicBezTo>
                      <a:pt x="33279" y="148661"/>
                      <a:pt x="0" y="115382"/>
                      <a:pt x="0" y="74331"/>
                    </a:cubicBezTo>
                    <a:lnTo>
                      <a:pt x="0" y="74331"/>
                    </a:lnTo>
                    <a:cubicBezTo>
                      <a:pt x="0" y="33279"/>
                      <a:pt x="33279" y="0"/>
                      <a:pt x="74331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89" name="TextBox 33">
                <a:extLst>
                  <a:ext uri="{FF2B5EF4-FFF2-40B4-BE49-F238E27FC236}">
                    <a16:creationId xmlns:a16="http://schemas.microsoft.com/office/drawing/2014/main" id="{5477D977-8BDD-9F85-24F7-2B29F4965082}"/>
                  </a:ext>
                </a:extLst>
              </p:cNvPr>
              <p:cNvSpPr txBox="1"/>
              <p:nvPr/>
            </p:nvSpPr>
            <p:spPr>
              <a:xfrm>
                <a:off x="3288450" y="8060728"/>
                <a:ext cx="710548" cy="12008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24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TT Norms Bold"/>
                    <a:ea typeface="TT Norms Bold"/>
                    <a:cs typeface="TT Norms Bold"/>
                    <a:sym typeface="TT Norms Bold"/>
                  </a:rPr>
                  <a:t>Technology</a:t>
                </a:r>
              </a:p>
            </p:txBody>
          </p:sp>
        </p:grpSp>
        <p:sp>
          <p:nvSpPr>
            <p:cNvPr id="70" name="AutoShape 35">
              <a:extLst>
                <a:ext uri="{FF2B5EF4-FFF2-40B4-BE49-F238E27FC236}">
                  <a16:creationId xmlns:a16="http://schemas.microsoft.com/office/drawing/2014/main" id="{DB35E549-74C5-52E0-DA94-40C7775AC002}"/>
                </a:ext>
              </a:extLst>
            </p:cNvPr>
            <p:cNvSpPr/>
            <p:nvPr/>
          </p:nvSpPr>
          <p:spPr>
            <a:xfrm>
              <a:off x="5105238" y="4926757"/>
              <a:ext cx="40025" cy="548211"/>
            </a:xfrm>
            <a:prstGeom prst="line">
              <a:avLst/>
            </a:prstGeom>
            <a:ln w="25400" cap="flat">
              <a:solidFill>
                <a:srgbClr val="285AC6"/>
              </a:solidFill>
              <a:prstDash val="sysDot"/>
              <a:headEnd type="triangle" w="lg" len="med"/>
              <a:tailEnd type="triangle" w="lg" len="med"/>
            </a:ln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7B15D57-0221-1AE4-827A-BD9AFD316183}"/>
                </a:ext>
              </a:extLst>
            </p:cNvPr>
            <p:cNvGrpSpPr/>
            <p:nvPr/>
          </p:nvGrpSpPr>
          <p:grpSpPr>
            <a:xfrm rot="-5400000">
              <a:off x="1980888" y="6746155"/>
              <a:ext cx="3584296" cy="752598"/>
              <a:chOff x="1980888" y="6746155"/>
              <a:chExt cx="708009" cy="148661"/>
            </a:xfrm>
          </p:grpSpPr>
          <p:sp>
            <p:nvSpPr>
              <p:cNvPr id="86" name="Freeform 37">
                <a:extLst>
                  <a:ext uri="{FF2B5EF4-FFF2-40B4-BE49-F238E27FC236}">
                    <a16:creationId xmlns:a16="http://schemas.microsoft.com/office/drawing/2014/main" id="{DF338E72-26F4-EBFA-C49A-9BC52FB9994D}"/>
                  </a:ext>
                </a:extLst>
              </p:cNvPr>
              <p:cNvSpPr/>
              <p:nvPr/>
            </p:nvSpPr>
            <p:spPr>
              <a:xfrm>
                <a:off x="1980888" y="6746155"/>
                <a:ext cx="708009" cy="148661"/>
              </a:xfrm>
              <a:custGeom>
                <a:avLst/>
                <a:gdLst/>
                <a:ahLst/>
                <a:cxnLst/>
                <a:rect l="l" t="t" r="r" b="b"/>
                <a:pathLst>
                  <a:path w="708009" h="148661">
                    <a:moveTo>
                      <a:pt x="74331" y="0"/>
                    </a:moveTo>
                    <a:lnTo>
                      <a:pt x="633678" y="0"/>
                    </a:lnTo>
                    <a:cubicBezTo>
                      <a:pt x="674730" y="0"/>
                      <a:pt x="708009" y="33279"/>
                      <a:pt x="708009" y="74331"/>
                    </a:cubicBezTo>
                    <a:lnTo>
                      <a:pt x="708009" y="74331"/>
                    </a:lnTo>
                    <a:cubicBezTo>
                      <a:pt x="708009" y="115382"/>
                      <a:pt x="674730" y="148661"/>
                      <a:pt x="633678" y="148661"/>
                    </a:cubicBezTo>
                    <a:lnTo>
                      <a:pt x="74331" y="148661"/>
                    </a:lnTo>
                    <a:cubicBezTo>
                      <a:pt x="33279" y="148661"/>
                      <a:pt x="0" y="115382"/>
                      <a:pt x="0" y="74331"/>
                    </a:cubicBezTo>
                    <a:lnTo>
                      <a:pt x="0" y="74331"/>
                    </a:lnTo>
                    <a:cubicBezTo>
                      <a:pt x="0" y="33279"/>
                      <a:pt x="33279" y="0"/>
                      <a:pt x="74331" y="0"/>
                    </a:cubicBezTo>
                    <a:close/>
                  </a:path>
                </a:pathLst>
              </a:custGeom>
              <a:solidFill>
                <a:srgbClr val="5CE1E6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87" name="TextBox 38">
                <a:extLst>
                  <a:ext uri="{FF2B5EF4-FFF2-40B4-BE49-F238E27FC236}">
                    <a16:creationId xmlns:a16="http://schemas.microsoft.com/office/drawing/2014/main" id="{9D4E8D0A-75E8-31A9-F2EE-0B60EC07D632}"/>
                  </a:ext>
                </a:extLst>
              </p:cNvPr>
              <p:cNvSpPr txBox="1"/>
              <p:nvPr/>
            </p:nvSpPr>
            <p:spPr>
              <a:xfrm>
                <a:off x="1980888" y="6774730"/>
                <a:ext cx="708009" cy="12008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24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TT Norms Bold"/>
                    <a:ea typeface="TT Norms Bold"/>
                    <a:cs typeface="TT Norms Bold"/>
                    <a:sym typeface="TT Norms Bold"/>
                  </a:rPr>
                  <a:t>Data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9C4D0C9-2EA1-AF53-D6A3-72D7FC19CC3F}"/>
                </a:ext>
              </a:extLst>
            </p:cNvPr>
            <p:cNvGrpSpPr/>
            <p:nvPr/>
          </p:nvGrpSpPr>
          <p:grpSpPr>
            <a:xfrm>
              <a:off x="3275599" y="10616172"/>
              <a:ext cx="3628214" cy="752628"/>
              <a:chOff x="3275599" y="10087198"/>
              <a:chExt cx="716684" cy="148667"/>
            </a:xfrm>
          </p:grpSpPr>
          <p:sp>
            <p:nvSpPr>
              <p:cNvPr id="84" name="Freeform 40">
                <a:extLst>
                  <a:ext uri="{FF2B5EF4-FFF2-40B4-BE49-F238E27FC236}">
                    <a16:creationId xmlns:a16="http://schemas.microsoft.com/office/drawing/2014/main" id="{91633859-9C2F-E116-DBAD-DEF380FA664B}"/>
                  </a:ext>
                </a:extLst>
              </p:cNvPr>
              <p:cNvSpPr/>
              <p:nvPr/>
            </p:nvSpPr>
            <p:spPr>
              <a:xfrm>
                <a:off x="3275599" y="10087198"/>
                <a:ext cx="716684" cy="148661"/>
              </a:xfrm>
              <a:custGeom>
                <a:avLst/>
                <a:gdLst/>
                <a:ahLst/>
                <a:cxnLst/>
                <a:rect l="l" t="t" r="r" b="b"/>
                <a:pathLst>
                  <a:path w="716684" h="148661">
                    <a:moveTo>
                      <a:pt x="74331" y="0"/>
                    </a:moveTo>
                    <a:lnTo>
                      <a:pt x="642354" y="0"/>
                    </a:lnTo>
                    <a:cubicBezTo>
                      <a:pt x="683405" y="0"/>
                      <a:pt x="716684" y="33279"/>
                      <a:pt x="716684" y="74331"/>
                    </a:cubicBezTo>
                    <a:lnTo>
                      <a:pt x="716684" y="74331"/>
                    </a:lnTo>
                    <a:cubicBezTo>
                      <a:pt x="716684" y="115382"/>
                      <a:pt x="683405" y="148661"/>
                      <a:pt x="642354" y="148661"/>
                    </a:cubicBezTo>
                    <a:lnTo>
                      <a:pt x="74331" y="148661"/>
                    </a:lnTo>
                    <a:cubicBezTo>
                      <a:pt x="33279" y="148661"/>
                      <a:pt x="0" y="115382"/>
                      <a:pt x="0" y="74331"/>
                    </a:cubicBezTo>
                    <a:lnTo>
                      <a:pt x="0" y="74331"/>
                    </a:lnTo>
                    <a:cubicBezTo>
                      <a:pt x="0" y="33279"/>
                      <a:pt x="33279" y="0"/>
                      <a:pt x="74331" y="0"/>
                    </a:cubicBezTo>
                    <a:close/>
                  </a:path>
                </a:pathLst>
              </a:custGeom>
              <a:solidFill>
                <a:srgbClr val="F4962B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85" name="TextBox 41">
                <a:extLst>
                  <a:ext uri="{FF2B5EF4-FFF2-40B4-BE49-F238E27FC236}">
                    <a16:creationId xmlns:a16="http://schemas.microsoft.com/office/drawing/2014/main" id="{820748EC-10A4-1990-B365-91230F9A1500}"/>
                  </a:ext>
                </a:extLst>
              </p:cNvPr>
              <p:cNvSpPr txBox="1"/>
              <p:nvPr/>
            </p:nvSpPr>
            <p:spPr>
              <a:xfrm>
                <a:off x="3275599" y="10115779"/>
                <a:ext cx="716684" cy="12008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24"/>
                  </a:lnSpc>
                </a:pPr>
                <a:r>
                  <a:rPr lang="en-US" sz="1200" b="1" dirty="0">
                    <a:solidFill>
                      <a:srgbClr val="000000"/>
                    </a:solidFill>
                    <a:latin typeface="TT Norms Bold"/>
                    <a:ea typeface="TT Norms Bold"/>
                    <a:cs typeface="TT Norms Bold"/>
                    <a:sym typeface="TT Norms Bold"/>
                  </a:rPr>
                  <a:t>Solution</a:t>
                </a:r>
              </a:p>
            </p:txBody>
          </p:sp>
        </p:grpSp>
        <p:sp>
          <p:nvSpPr>
            <p:cNvPr id="73" name="AutoShape 42">
              <a:extLst>
                <a:ext uri="{FF2B5EF4-FFF2-40B4-BE49-F238E27FC236}">
                  <a16:creationId xmlns:a16="http://schemas.microsoft.com/office/drawing/2014/main" id="{03F3A031-68B4-D0AC-0B77-7227B689A8CB}"/>
                </a:ext>
              </a:extLst>
            </p:cNvPr>
            <p:cNvSpPr/>
            <p:nvPr/>
          </p:nvSpPr>
          <p:spPr>
            <a:xfrm>
              <a:off x="5105238" y="7498752"/>
              <a:ext cx="40021" cy="545343"/>
            </a:xfrm>
            <a:prstGeom prst="line">
              <a:avLst/>
            </a:prstGeom>
            <a:ln w="25400" cap="flat">
              <a:solidFill>
                <a:srgbClr val="285AC6"/>
              </a:solidFill>
              <a:prstDash val="sysDot"/>
              <a:headEnd type="triangle" w="lg" len="med"/>
              <a:tailEnd type="triangle" w="lg" len="med"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 sz="1200"/>
            </a:p>
          </p:txBody>
        </p:sp>
        <p:sp>
          <p:nvSpPr>
            <p:cNvPr id="74" name="AutoShape 43">
              <a:extLst>
                <a:ext uri="{FF2B5EF4-FFF2-40B4-BE49-F238E27FC236}">
                  <a16:creationId xmlns:a16="http://schemas.microsoft.com/office/drawing/2014/main" id="{2000F695-10DA-4305-F9F8-D4ED41300AAF}"/>
                </a:ext>
              </a:extLst>
            </p:cNvPr>
            <p:cNvSpPr/>
            <p:nvPr/>
          </p:nvSpPr>
          <p:spPr>
            <a:xfrm>
              <a:off x="5096131" y="6212755"/>
              <a:ext cx="9108" cy="533400"/>
            </a:xfrm>
            <a:prstGeom prst="line">
              <a:avLst/>
            </a:prstGeom>
            <a:ln w="25400" cap="flat">
              <a:solidFill>
                <a:srgbClr val="285AC6"/>
              </a:solidFill>
              <a:prstDash val="sysDot"/>
              <a:headEnd type="triangle" w="lg" len="med"/>
              <a:tailEnd type="triangle" w="lg" len="me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5" name="AutoShape 44">
              <a:extLst>
                <a:ext uri="{FF2B5EF4-FFF2-40B4-BE49-F238E27FC236}">
                  <a16:creationId xmlns:a16="http://schemas.microsoft.com/office/drawing/2014/main" id="{4FCB8FF0-8DB3-DFE5-71FB-8EA694766116}"/>
                </a:ext>
              </a:extLst>
            </p:cNvPr>
            <p:cNvSpPr/>
            <p:nvPr/>
          </p:nvSpPr>
          <p:spPr>
            <a:xfrm flipV="1">
              <a:off x="2771982" y="4550454"/>
              <a:ext cx="21016" cy="6400990"/>
            </a:xfrm>
            <a:prstGeom prst="line">
              <a:avLst/>
            </a:prstGeom>
            <a:ln w="38100" cap="flat">
              <a:solidFill>
                <a:srgbClr val="285AC6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7" name="AutoShape 46">
              <a:extLst>
                <a:ext uri="{FF2B5EF4-FFF2-40B4-BE49-F238E27FC236}">
                  <a16:creationId xmlns:a16="http://schemas.microsoft.com/office/drawing/2014/main" id="{A85138D4-C596-A81D-FD09-FF927CB11AD5}"/>
                </a:ext>
              </a:extLst>
            </p:cNvPr>
            <p:cNvSpPr/>
            <p:nvPr/>
          </p:nvSpPr>
          <p:spPr>
            <a:xfrm>
              <a:off x="2792999" y="4550457"/>
              <a:ext cx="513667" cy="0"/>
            </a:xfrm>
            <a:prstGeom prst="line">
              <a:avLst/>
            </a:prstGeom>
            <a:ln w="38100" cap="flat">
              <a:solidFill>
                <a:srgbClr val="285AC6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8" name="AutoShape 47">
              <a:extLst>
                <a:ext uri="{FF2B5EF4-FFF2-40B4-BE49-F238E27FC236}">
                  <a16:creationId xmlns:a16="http://schemas.microsoft.com/office/drawing/2014/main" id="{0887CBDF-DF01-76FA-F97C-78F5A041F31F}"/>
                </a:ext>
              </a:extLst>
            </p:cNvPr>
            <p:cNvSpPr/>
            <p:nvPr/>
          </p:nvSpPr>
          <p:spPr>
            <a:xfrm flipV="1">
              <a:off x="2792999" y="5836456"/>
              <a:ext cx="482600" cy="0"/>
            </a:xfrm>
            <a:prstGeom prst="line">
              <a:avLst/>
            </a:prstGeom>
            <a:ln w="38100" cap="flat">
              <a:solidFill>
                <a:srgbClr val="285AC6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9" name="AutoShape 48">
              <a:extLst>
                <a:ext uri="{FF2B5EF4-FFF2-40B4-BE49-F238E27FC236}">
                  <a16:creationId xmlns:a16="http://schemas.microsoft.com/office/drawing/2014/main" id="{06578083-6A86-8CC8-77FB-F78F903FD649}"/>
                </a:ext>
              </a:extLst>
            </p:cNvPr>
            <p:cNvSpPr/>
            <p:nvPr/>
          </p:nvSpPr>
          <p:spPr>
            <a:xfrm>
              <a:off x="2792999" y="7122454"/>
              <a:ext cx="513667" cy="0"/>
            </a:xfrm>
            <a:prstGeom prst="line">
              <a:avLst/>
            </a:prstGeom>
            <a:ln w="38100" cap="flat">
              <a:solidFill>
                <a:srgbClr val="285AC6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0" name="AutoShape 49">
              <a:extLst>
                <a:ext uri="{FF2B5EF4-FFF2-40B4-BE49-F238E27FC236}">
                  <a16:creationId xmlns:a16="http://schemas.microsoft.com/office/drawing/2014/main" id="{3CDE590C-750B-EAF1-75FC-ADCE8D8E3D51}"/>
                </a:ext>
              </a:extLst>
            </p:cNvPr>
            <p:cNvSpPr/>
            <p:nvPr/>
          </p:nvSpPr>
          <p:spPr>
            <a:xfrm>
              <a:off x="2792999" y="8408452"/>
              <a:ext cx="495451" cy="0"/>
            </a:xfrm>
            <a:prstGeom prst="line">
              <a:avLst/>
            </a:prstGeom>
            <a:ln w="38100" cap="flat">
              <a:solidFill>
                <a:srgbClr val="285AC6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1A98DB99-8E3C-CEBE-6E10-163DF1105D62}"/>
                </a:ext>
              </a:extLst>
            </p:cNvPr>
            <p:cNvSpPr/>
            <p:nvPr/>
          </p:nvSpPr>
          <p:spPr>
            <a:xfrm>
              <a:off x="2805850" y="10961122"/>
              <a:ext cx="482600" cy="0"/>
            </a:xfrm>
            <a:prstGeom prst="line">
              <a:avLst/>
            </a:prstGeom>
            <a:ln w="38100" cap="flat">
              <a:solidFill>
                <a:srgbClr val="285AC6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2" name="AutoShape 51">
              <a:extLst>
                <a:ext uri="{FF2B5EF4-FFF2-40B4-BE49-F238E27FC236}">
                  <a16:creationId xmlns:a16="http://schemas.microsoft.com/office/drawing/2014/main" id="{46138069-DF51-DDE6-CAF7-56FB1F9462B8}"/>
                </a:ext>
              </a:extLst>
            </p:cNvPr>
            <p:cNvSpPr/>
            <p:nvPr/>
          </p:nvSpPr>
          <p:spPr>
            <a:xfrm>
              <a:off x="5087673" y="8784751"/>
              <a:ext cx="17562" cy="1788028"/>
            </a:xfrm>
            <a:prstGeom prst="line">
              <a:avLst/>
            </a:prstGeom>
            <a:ln w="25400" cap="flat">
              <a:solidFill>
                <a:srgbClr val="285AC6"/>
              </a:solidFill>
              <a:prstDash val="sysDot"/>
              <a:headEnd type="triangle" w="lg" len="med"/>
              <a:tailEnd type="triangle" w="lg" len="me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3" name="TextBox 52">
              <a:extLst>
                <a:ext uri="{FF2B5EF4-FFF2-40B4-BE49-F238E27FC236}">
                  <a16:creationId xmlns:a16="http://schemas.microsoft.com/office/drawing/2014/main" id="{1B212BD7-4D30-1752-6419-4D2297DEF04C}"/>
                </a:ext>
              </a:extLst>
            </p:cNvPr>
            <p:cNvSpPr txBox="1"/>
            <p:nvPr/>
          </p:nvSpPr>
          <p:spPr>
            <a:xfrm rot="16200000">
              <a:off x="-1298733" y="6596725"/>
              <a:ext cx="7703913" cy="410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r>
                <a:rPr lang="en-US" sz="1600" b="1" dirty="0">
                  <a:solidFill>
                    <a:srgbClr val="000000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Cross Layers Relationship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C660428-5498-C247-8F14-072F04019078}"/>
              </a:ext>
            </a:extLst>
          </p:cNvPr>
          <p:cNvGrpSpPr/>
          <p:nvPr/>
        </p:nvGrpSpPr>
        <p:grpSpPr>
          <a:xfrm>
            <a:off x="503555" y="2901294"/>
            <a:ext cx="878818" cy="1210948"/>
            <a:chOff x="755332" y="4351941"/>
            <a:chExt cx="335643" cy="478399"/>
          </a:xfrm>
        </p:grpSpPr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0FE36A84-FB60-E395-A40B-E6322F6F85EC}"/>
                </a:ext>
              </a:extLst>
            </p:cNvPr>
            <p:cNvSpPr/>
            <p:nvPr/>
          </p:nvSpPr>
          <p:spPr>
            <a:xfrm>
              <a:off x="755332" y="4351941"/>
              <a:ext cx="335643" cy="478399"/>
            </a:xfrm>
            <a:custGeom>
              <a:avLst/>
              <a:gdLst/>
              <a:ahLst/>
              <a:cxnLst/>
              <a:rect l="l" t="t" r="r" b="b"/>
              <a:pathLst>
                <a:path w="335643" h="478399">
                  <a:moveTo>
                    <a:pt x="167821" y="0"/>
                  </a:moveTo>
                  <a:lnTo>
                    <a:pt x="167821" y="0"/>
                  </a:lnTo>
                  <a:cubicBezTo>
                    <a:pt x="260507" y="0"/>
                    <a:pt x="335643" y="75136"/>
                    <a:pt x="335643" y="167821"/>
                  </a:cubicBezTo>
                  <a:lnTo>
                    <a:pt x="335643" y="310578"/>
                  </a:lnTo>
                  <a:cubicBezTo>
                    <a:pt x="335643" y="355087"/>
                    <a:pt x="317962" y="397773"/>
                    <a:pt x="286489" y="429245"/>
                  </a:cubicBezTo>
                  <a:cubicBezTo>
                    <a:pt x="255017" y="460718"/>
                    <a:pt x="212330" y="478399"/>
                    <a:pt x="167821" y="478399"/>
                  </a:cubicBezTo>
                  <a:lnTo>
                    <a:pt x="167821" y="478399"/>
                  </a:lnTo>
                  <a:cubicBezTo>
                    <a:pt x="123312" y="478399"/>
                    <a:pt x="80626" y="460718"/>
                    <a:pt x="49154" y="429245"/>
                  </a:cubicBezTo>
                  <a:cubicBezTo>
                    <a:pt x="17681" y="397773"/>
                    <a:pt x="0" y="355087"/>
                    <a:pt x="0" y="310578"/>
                  </a:cubicBezTo>
                  <a:lnTo>
                    <a:pt x="0" y="167821"/>
                  </a:lnTo>
                  <a:cubicBezTo>
                    <a:pt x="0" y="123312"/>
                    <a:pt x="17681" y="80626"/>
                    <a:pt x="49154" y="49154"/>
                  </a:cubicBezTo>
                  <a:cubicBezTo>
                    <a:pt x="80626" y="17681"/>
                    <a:pt x="123312" y="0"/>
                    <a:pt x="167821" y="0"/>
                  </a:cubicBezTo>
                  <a:close/>
                </a:path>
              </a:pathLst>
            </a:custGeom>
            <a:solidFill>
              <a:srgbClr val="E5E4E1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3" name="TextBox 55">
              <a:extLst>
                <a:ext uri="{FF2B5EF4-FFF2-40B4-BE49-F238E27FC236}">
                  <a16:creationId xmlns:a16="http://schemas.microsoft.com/office/drawing/2014/main" id="{E09EE28A-3275-E68E-13D7-D5DC50BBFAB6}"/>
                </a:ext>
              </a:extLst>
            </p:cNvPr>
            <p:cNvSpPr txBox="1"/>
            <p:nvPr/>
          </p:nvSpPr>
          <p:spPr>
            <a:xfrm>
              <a:off x="755332" y="4380516"/>
              <a:ext cx="335643" cy="4498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088"/>
                </a:lnSpc>
              </a:pPr>
              <a:r>
                <a:rPr lang="en-US" sz="1067" b="1">
                  <a:solidFill>
                    <a:srgbClr val="000000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Architecture Building Block (ABB)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C996EAD-99AF-204A-C883-80F7C75166E2}"/>
              </a:ext>
            </a:extLst>
          </p:cNvPr>
          <p:cNvGrpSpPr/>
          <p:nvPr/>
        </p:nvGrpSpPr>
        <p:grpSpPr>
          <a:xfrm>
            <a:off x="515969" y="4934906"/>
            <a:ext cx="849596" cy="940097"/>
            <a:chOff x="755333" y="7980974"/>
            <a:chExt cx="335643" cy="371396"/>
          </a:xfrm>
        </p:grpSpPr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50498CAF-D1BD-6777-AE72-9C8533DF1623}"/>
                </a:ext>
              </a:extLst>
            </p:cNvPr>
            <p:cNvSpPr/>
            <p:nvPr/>
          </p:nvSpPr>
          <p:spPr>
            <a:xfrm>
              <a:off x="755333" y="7980974"/>
              <a:ext cx="335643" cy="371395"/>
            </a:xfrm>
            <a:custGeom>
              <a:avLst/>
              <a:gdLst/>
              <a:ahLst/>
              <a:cxnLst/>
              <a:rect l="l" t="t" r="r" b="b"/>
              <a:pathLst>
                <a:path w="335643" h="371395">
                  <a:moveTo>
                    <a:pt x="167821" y="0"/>
                  </a:moveTo>
                  <a:lnTo>
                    <a:pt x="167821" y="0"/>
                  </a:lnTo>
                  <a:cubicBezTo>
                    <a:pt x="260507" y="0"/>
                    <a:pt x="335643" y="75136"/>
                    <a:pt x="335643" y="167821"/>
                  </a:cubicBezTo>
                  <a:lnTo>
                    <a:pt x="335643" y="203574"/>
                  </a:lnTo>
                  <a:cubicBezTo>
                    <a:pt x="335643" y="248083"/>
                    <a:pt x="317962" y="290769"/>
                    <a:pt x="286489" y="322241"/>
                  </a:cubicBezTo>
                  <a:cubicBezTo>
                    <a:pt x="255017" y="353714"/>
                    <a:pt x="212330" y="371395"/>
                    <a:pt x="167821" y="371395"/>
                  </a:cubicBezTo>
                  <a:lnTo>
                    <a:pt x="167821" y="371395"/>
                  </a:lnTo>
                  <a:cubicBezTo>
                    <a:pt x="123312" y="371395"/>
                    <a:pt x="80626" y="353714"/>
                    <a:pt x="49154" y="322241"/>
                  </a:cubicBezTo>
                  <a:cubicBezTo>
                    <a:pt x="17681" y="290769"/>
                    <a:pt x="0" y="248083"/>
                    <a:pt x="0" y="203574"/>
                  </a:cubicBezTo>
                  <a:lnTo>
                    <a:pt x="0" y="167821"/>
                  </a:lnTo>
                  <a:cubicBezTo>
                    <a:pt x="0" y="123312"/>
                    <a:pt x="17681" y="80626"/>
                    <a:pt x="49154" y="49154"/>
                  </a:cubicBezTo>
                  <a:cubicBezTo>
                    <a:pt x="80626" y="17681"/>
                    <a:pt x="123312" y="0"/>
                    <a:pt x="167821" y="0"/>
                  </a:cubicBezTo>
                  <a:close/>
                </a:path>
              </a:pathLst>
            </a:custGeom>
            <a:solidFill>
              <a:srgbClr val="E5E4E1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1" name="TextBox 58">
              <a:extLst>
                <a:ext uri="{FF2B5EF4-FFF2-40B4-BE49-F238E27FC236}">
                  <a16:creationId xmlns:a16="http://schemas.microsoft.com/office/drawing/2014/main" id="{2C1BEC05-6909-CE3C-7B29-AD8C9C5135D6}"/>
                </a:ext>
              </a:extLst>
            </p:cNvPr>
            <p:cNvSpPr txBox="1"/>
            <p:nvPr/>
          </p:nvSpPr>
          <p:spPr>
            <a:xfrm>
              <a:off x="755333" y="8009550"/>
              <a:ext cx="335643" cy="342820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088"/>
                </a:lnSpc>
              </a:pPr>
              <a:r>
                <a:rPr lang="en-US" sz="1067" b="1" dirty="0">
                  <a:solidFill>
                    <a:srgbClr val="000000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Solution Building Block (SBB)</a:t>
              </a:r>
            </a:p>
          </p:txBody>
        </p:sp>
      </p:grpSp>
      <p:sp>
        <p:nvSpPr>
          <p:cNvPr id="39" name="TextBox 66">
            <a:extLst>
              <a:ext uri="{FF2B5EF4-FFF2-40B4-BE49-F238E27FC236}">
                <a16:creationId xmlns:a16="http://schemas.microsoft.com/office/drawing/2014/main" id="{E44AADE7-3026-1AC6-41CF-DA11B0D39AE4}"/>
              </a:ext>
            </a:extLst>
          </p:cNvPr>
          <p:cNvSpPr txBox="1"/>
          <p:nvPr/>
        </p:nvSpPr>
        <p:spPr>
          <a:xfrm>
            <a:off x="503555" y="302988"/>
            <a:ext cx="11230011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24"/>
              </a:lnSpc>
            </a:pPr>
            <a:r>
              <a:rPr lang="en-US" sz="3667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Building Blocks and the ADM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86D7087-A205-A58B-CE05-336BE6DE6EDA}"/>
              </a:ext>
            </a:extLst>
          </p:cNvPr>
          <p:cNvGrpSpPr/>
          <p:nvPr/>
        </p:nvGrpSpPr>
        <p:grpSpPr>
          <a:xfrm>
            <a:off x="0" y="710241"/>
            <a:ext cx="3155050" cy="851417"/>
            <a:chOff x="0" y="898699"/>
            <a:chExt cx="6310101" cy="170283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2B257D8-2437-891D-60C2-885758F66CE4}"/>
                </a:ext>
              </a:extLst>
            </p:cNvPr>
            <p:cNvGrpSpPr/>
            <p:nvPr/>
          </p:nvGrpSpPr>
          <p:grpSpPr>
            <a:xfrm>
              <a:off x="0" y="898699"/>
              <a:ext cx="6310101" cy="1702835"/>
              <a:chOff x="0" y="1403421"/>
              <a:chExt cx="1532689" cy="413609"/>
            </a:xfrm>
          </p:grpSpPr>
          <p:sp>
            <p:nvSpPr>
              <p:cNvPr id="58" name="Freeform 70">
                <a:extLst>
                  <a:ext uri="{FF2B5EF4-FFF2-40B4-BE49-F238E27FC236}">
                    <a16:creationId xmlns:a16="http://schemas.microsoft.com/office/drawing/2014/main" id="{A04C75FC-A0C6-1C4C-A2BE-649F6548C086}"/>
                  </a:ext>
                </a:extLst>
              </p:cNvPr>
              <p:cNvSpPr/>
              <p:nvPr/>
            </p:nvSpPr>
            <p:spPr>
              <a:xfrm>
                <a:off x="0" y="1565346"/>
                <a:ext cx="1532689" cy="251684"/>
              </a:xfrm>
              <a:custGeom>
                <a:avLst/>
                <a:gdLst/>
                <a:ahLst/>
                <a:cxnLst/>
                <a:rect l="l" t="t" r="r" b="b"/>
                <a:pathLst>
                  <a:path w="1532689" h="251684">
                    <a:moveTo>
                      <a:pt x="13304" y="0"/>
                    </a:moveTo>
                    <a:lnTo>
                      <a:pt x="1519385" y="0"/>
                    </a:lnTo>
                    <a:cubicBezTo>
                      <a:pt x="1526732" y="0"/>
                      <a:pt x="1532689" y="5956"/>
                      <a:pt x="1532689" y="13304"/>
                    </a:cubicBezTo>
                    <a:lnTo>
                      <a:pt x="1532689" y="238381"/>
                    </a:lnTo>
                    <a:cubicBezTo>
                      <a:pt x="1532689" y="245728"/>
                      <a:pt x="1526732" y="251684"/>
                      <a:pt x="1519385" y="251684"/>
                    </a:cubicBezTo>
                    <a:lnTo>
                      <a:pt x="13304" y="251684"/>
                    </a:lnTo>
                    <a:cubicBezTo>
                      <a:pt x="5956" y="251684"/>
                      <a:pt x="0" y="245728"/>
                      <a:pt x="0" y="238381"/>
                    </a:cubicBezTo>
                    <a:lnTo>
                      <a:pt x="0" y="13304"/>
                    </a:lnTo>
                    <a:cubicBezTo>
                      <a:pt x="0" y="5956"/>
                      <a:pt x="5956" y="0"/>
                      <a:pt x="13304" y="0"/>
                    </a:cubicBezTo>
                    <a:close/>
                  </a:path>
                </a:pathLst>
              </a:custGeom>
              <a:solidFill>
                <a:srgbClr val="D22229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59" name="TextBox 71">
                <a:extLst>
                  <a:ext uri="{FF2B5EF4-FFF2-40B4-BE49-F238E27FC236}">
                    <a16:creationId xmlns:a16="http://schemas.microsoft.com/office/drawing/2014/main" id="{D765C5C1-C620-A753-7281-77300FA4934D}"/>
                  </a:ext>
                </a:extLst>
              </p:cNvPr>
              <p:cNvSpPr txBox="1"/>
              <p:nvPr/>
            </p:nvSpPr>
            <p:spPr>
              <a:xfrm>
                <a:off x="0" y="1403421"/>
                <a:ext cx="1532689" cy="413609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960"/>
                  </a:lnSpc>
                </a:pPr>
                <a:endParaRPr sz="1200"/>
              </a:p>
            </p:txBody>
          </p:sp>
        </p:grpSp>
        <p:sp>
          <p:nvSpPr>
            <p:cNvPr id="56" name="Freeform 72">
              <a:extLst>
                <a:ext uri="{FF2B5EF4-FFF2-40B4-BE49-F238E27FC236}">
                  <a16:creationId xmlns:a16="http://schemas.microsoft.com/office/drawing/2014/main" id="{EB003B1B-FD1C-043F-5CF1-D5966ADE7B3A}"/>
                </a:ext>
              </a:extLst>
            </p:cNvPr>
            <p:cNvSpPr/>
            <p:nvPr/>
          </p:nvSpPr>
          <p:spPr>
            <a:xfrm>
              <a:off x="732254" y="1906644"/>
              <a:ext cx="433855" cy="353592"/>
            </a:xfrm>
            <a:custGeom>
              <a:avLst/>
              <a:gdLst/>
              <a:ahLst/>
              <a:cxnLst/>
              <a:rect l="l" t="t" r="r" b="b"/>
              <a:pathLst>
                <a:path w="433855" h="353592">
                  <a:moveTo>
                    <a:pt x="0" y="0"/>
                  </a:moveTo>
                  <a:lnTo>
                    <a:pt x="433855" y="0"/>
                  </a:lnTo>
                  <a:lnTo>
                    <a:pt x="433855" y="353591"/>
                  </a:lnTo>
                  <a:lnTo>
                    <a:pt x="0" y="35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7" name="TextBox 73">
              <a:extLst>
                <a:ext uri="{FF2B5EF4-FFF2-40B4-BE49-F238E27FC236}">
                  <a16:creationId xmlns:a16="http://schemas.microsoft.com/office/drawing/2014/main" id="{3DB8F241-5C52-9D35-4A1B-E10A0FE51039}"/>
                </a:ext>
              </a:extLst>
            </p:cNvPr>
            <p:cNvSpPr txBox="1"/>
            <p:nvPr/>
          </p:nvSpPr>
          <p:spPr>
            <a:xfrm>
              <a:off x="1723320" y="1842140"/>
              <a:ext cx="4178461" cy="487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Architecture Content</a:t>
              </a:r>
            </a:p>
          </p:txBody>
        </p:sp>
      </p:grpSp>
      <p:sp>
        <p:nvSpPr>
          <p:cNvPr id="44" name="TextBox 74">
            <a:extLst>
              <a:ext uri="{FF2B5EF4-FFF2-40B4-BE49-F238E27FC236}">
                <a16:creationId xmlns:a16="http://schemas.microsoft.com/office/drawing/2014/main" id="{6B784A5A-EFB2-81B8-3ACA-66BE8482A416}"/>
              </a:ext>
            </a:extLst>
          </p:cNvPr>
          <p:cNvSpPr txBox="1"/>
          <p:nvPr/>
        </p:nvSpPr>
        <p:spPr>
          <a:xfrm>
            <a:off x="3311298" y="1068964"/>
            <a:ext cx="802743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97"/>
              </a:lnSpc>
            </a:pPr>
            <a:r>
              <a:rPr lang="en-US" sz="1866" b="1">
                <a:solidFill>
                  <a:srgbClr val="0D0D0D"/>
                </a:solidFill>
                <a:latin typeface="TT Norms Bold"/>
                <a:ea typeface="TT Norms Bold"/>
                <a:cs typeface="TT Norms Bold"/>
                <a:sym typeface="TT Norms Bold"/>
              </a:rPr>
              <a:t>Architecture Building Blocks &amp; Solution Building Blocks - The Language</a:t>
            </a:r>
          </a:p>
        </p:txBody>
      </p:sp>
      <p:sp>
        <p:nvSpPr>
          <p:cNvPr id="45" name="AutoShape 75">
            <a:extLst>
              <a:ext uri="{FF2B5EF4-FFF2-40B4-BE49-F238E27FC236}">
                <a16:creationId xmlns:a16="http://schemas.microsoft.com/office/drawing/2014/main" id="{7F15BF4E-9538-8F30-CF82-252621307435}"/>
              </a:ext>
            </a:extLst>
          </p:cNvPr>
          <p:cNvSpPr/>
          <p:nvPr/>
        </p:nvSpPr>
        <p:spPr>
          <a:xfrm>
            <a:off x="3155050" y="1302611"/>
            <a:ext cx="8183677" cy="19422"/>
          </a:xfrm>
          <a:prstGeom prst="line">
            <a:avLst/>
          </a:prstGeom>
          <a:ln w="38100" cap="flat">
            <a:solidFill>
              <a:srgbClr val="B41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6" name="TextBox 76">
            <a:extLst>
              <a:ext uri="{FF2B5EF4-FFF2-40B4-BE49-F238E27FC236}">
                <a16:creationId xmlns:a16="http://schemas.microsoft.com/office/drawing/2014/main" id="{8FBE228B-717B-7C25-8845-B8BC2853E50A}"/>
              </a:ext>
            </a:extLst>
          </p:cNvPr>
          <p:cNvSpPr txBox="1"/>
          <p:nvPr/>
        </p:nvSpPr>
        <p:spPr>
          <a:xfrm>
            <a:off x="10704319" y="1580707"/>
            <a:ext cx="1098485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60"/>
              </a:lnSpc>
              <a:spcBef>
                <a:spcPct val="0"/>
              </a:spcBef>
            </a:pPr>
            <a:r>
              <a:rPr lang="en-US" sz="1333" b="1" i="1" dirty="0">
                <a:solidFill>
                  <a:srgbClr val="B4151C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- Illustration-</a:t>
            </a:r>
          </a:p>
        </p:txBody>
      </p:sp>
      <p:sp>
        <p:nvSpPr>
          <p:cNvPr id="50" name="AutoShape 78">
            <a:extLst>
              <a:ext uri="{FF2B5EF4-FFF2-40B4-BE49-F238E27FC236}">
                <a16:creationId xmlns:a16="http://schemas.microsoft.com/office/drawing/2014/main" id="{0D6C32F8-9979-F944-83EC-0CAE7B5418F8}"/>
              </a:ext>
            </a:extLst>
          </p:cNvPr>
          <p:cNvSpPr/>
          <p:nvPr/>
        </p:nvSpPr>
        <p:spPr>
          <a:xfrm>
            <a:off x="4013279" y="1790259"/>
            <a:ext cx="0" cy="2827054"/>
          </a:xfrm>
          <a:prstGeom prst="line">
            <a:avLst/>
          </a:prstGeom>
          <a:ln w="28575" cap="flat">
            <a:solidFill>
              <a:srgbClr val="285AC6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52" name="AutoShape 79">
            <a:extLst>
              <a:ext uri="{FF2B5EF4-FFF2-40B4-BE49-F238E27FC236}">
                <a16:creationId xmlns:a16="http://schemas.microsoft.com/office/drawing/2014/main" id="{7C2C5E36-EED4-212E-86D9-585E3A162071}"/>
              </a:ext>
            </a:extLst>
          </p:cNvPr>
          <p:cNvSpPr/>
          <p:nvPr/>
        </p:nvSpPr>
        <p:spPr>
          <a:xfrm flipH="1">
            <a:off x="4013279" y="4617313"/>
            <a:ext cx="6268" cy="1713637"/>
          </a:xfrm>
          <a:prstGeom prst="line">
            <a:avLst/>
          </a:prstGeom>
          <a:ln w="28575" cap="flat">
            <a:solidFill>
              <a:srgbClr val="F4962B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109" name="Picture 10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1673CA-4CCB-60F8-A901-4B7628662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64" y="4730767"/>
            <a:ext cx="958850" cy="844550"/>
          </a:xfrm>
          <a:prstGeom prst="rect">
            <a:avLst/>
          </a:prstGeom>
        </p:spPr>
      </p:pic>
      <p:pic>
        <p:nvPicPr>
          <p:cNvPr id="110" name="Picture 10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94972A7-FC33-6706-56E7-536BF6DB9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012" y="5274134"/>
            <a:ext cx="1416050" cy="86995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A7FEB70A-3FB9-8D16-F237-1BFAB995B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0314" y="4794709"/>
            <a:ext cx="736600" cy="958850"/>
          </a:xfrm>
          <a:prstGeom prst="rect">
            <a:avLst/>
          </a:prstGeom>
        </p:spPr>
      </p:pic>
      <p:pic>
        <p:nvPicPr>
          <p:cNvPr id="112" name="Picture 111" descr="A logo of a company&#10;&#10;AI-generated content may be incorrect.">
            <a:extLst>
              <a:ext uri="{FF2B5EF4-FFF2-40B4-BE49-F238E27FC236}">
                <a16:creationId xmlns:a16="http://schemas.microsoft.com/office/drawing/2014/main" id="{7DA72C14-4256-1F12-259B-18EEA7C8B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791" y="5348140"/>
            <a:ext cx="1187450" cy="8636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C9226F7-648D-59BF-7826-F0520F21F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7837" y="4838933"/>
            <a:ext cx="1377950" cy="1035050"/>
          </a:xfrm>
          <a:prstGeom prst="rect">
            <a:avLst/>
          </a:prstGeom>
        </p:spPr>
      </p:pic>
      <p:pic>
        <p:nvPicPr>
          <p:cNvPr id="114" name="Picture 113" descr="A blue and green logo&#10;&#10;AI-generated content may be incorrect.">
            <a:extLst>
              <a:ext uri="{FF2B5EF4-FFF2-40B4-BE49-F238E27FC236}">
                <a16:creationId xmlns:a16="http://schemas.microsoft.com/office/drawing/2014/main" id="{EDD35044-BFF7-A3A6-BC83-4CD8831E2A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2758" y="5505683"/>
            <a:ext cx="349250" cy="736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FBF0FF-5AF6-CAF9-071B-CEC2080EA5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513" y="1855877"/>
            <a:ext cx="2868424" cy="2627644"/>
          </a:xfrm>
          <a:prstGeom prst="rect">
            <a:avLst/>
          </a:prstGeom>
        </p:spPr>
      </p:pic>
      <p:pic>
        <p:nvPicPr>
          <p:cNvPr id="12" name="Picture 11" descr="New Feature: Architecture Decisions in SAP LeanIX | Community">
            <a:extLst>
              <a:ext uri="{FF2B5EF4-FFF2-40B4-BE49-F238E27FC236}">
                <a16:creationId xmlns:a16="http://schemas.microsoft.com/office/drawing/2014/main" id="{C4B615DD-F14B-A34B-A773-A4DD782D16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2758" y="2980520"/>
            <a:ext cx="1428914" cy="2994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B31C62-1795-AC0D-2B34-B4B4AC9357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5576" y="4806982"/>
            <a:ext cx="1495591" cy="27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5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TT Norms Bold</vt:lpstr>
      <vt:lpstr>TT Norms Bold Italics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Hammam Hashiruddin</dc:creator>
  <cp:lastModifiedBy>Hammam Hashiruddin</cp:lastModifiedBy>
  <cp:revision>1</cp:revision>
  <dcterms:created xsi:type="dcterms:W3CDTF">2026-09-08T07:19:13Z</dcterms:created>
  <dcterms:modified xsi:type="dcterms:W3CDTF">2026-09-08T07:30:16Z</dcterms:modified>
</cp:coreProperties>
</file>